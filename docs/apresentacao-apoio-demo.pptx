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Mostre a mesma consulta nos dois códigos: a diferença resume dois defeitos.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Use se perguntarem como um defeito tão grave passou despercebido: com uma única reserva no banco o sistema parece funcionar; os valores limite de estadias adjacentes e períodos distantes expõem o problema.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ferramenta importa JUnit, cobertura e resultado do Cosmic Ray pela ponte local e vincula tudo pelo ID CT-xxx.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 faltar tempo, pule a mutação ao vivo e importe o estudo completo (output/hotel-vvtestlab-backup.json), que já traz execuções, defeitos e métricas.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image" Target="../media/image8.png"/><Relationship Id="rId6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54864" bIns="54864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3246120"/>
            <a:ext cx="1280160" cy="73152"/>
          </a:xfrm>
          <a:prstGeom prst="rect">
            <a:avLst/>
          </a:prstGeom>
          <a:solidFill>
            <a:srgbClr val="8A10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54864" bIns="54864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31520" y="1737360"/>
            <a:ext cx="10515600" cy="14630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54864" bIns="54864"/>
          <a:lstStyle/>
          <a:p>
            <a:pPr algn="l">
              <a:spcAft>
                <a:spcPts val="200"/>
              </a:spcAft>
            </a:pPr>
            <a:r>
              <a:rPr sz="3400" b="1">
                <a:solidFill>
                  <a:srgbClr val="FFFFFF"/>
                </a:solidFill>
                <a:latin typeface="Segoe UI"/>
              </a:rPr>
              <a:t>Teste de software de terceiros: Hotel Management System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3474720"/>
            <a:ext cx="10515600" cy="16459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54864" bIns="54864"/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C9D4E5"/>
                </a:solidFill>
                <a:latin typeface="Segoe UI"/>
              </a:rPr>
              <a:t>Slides de apoio à demonstração</a:t>
            </a:r>
          </a:p>
          <a:p>
            <a:pPr algn="l">
              <a:spcAft>
                <a:spcPts val="400"/>
              </a:spcAft>
            </a:pPr>
            <a:r>
              <a:rPr sz="1500" b="0">
                <a:solidFill>
                  <a:srgbClr val="C9D4E5"/>
                </a:solidFill>
                <a:latin typeface="Segoe UI"/>
              </a:rPr>
              <a:t>Gabriel Felipe Jess Meira · Verificação e Validação</a:t>
            </a:r>
          </a:p>
          <a:p>
            <a:pPr algn="l">
              <a:spcAft>
                <a:spcPts val="400"/>
              </a:spcAft>
            </a:pPr>
            <a:r>
              <a:rPr sz="1500" b="0">
                <a:solidFill>
                  <a:srgbClr val="C9D4E5"/>
                </a:solidFill>
                <a:latin typeface="Segoe UI"/>
              </a:rPr>
              <a:t>github.com/gabrielfjm/Hotel_Management_System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54864" bIns="54864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8A10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54864" bIns="54864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411480" y="201168"/>
            <a:ext cx="566928" cy="566928"/>
          </a:xfrm>
          <a:prstGeom prst="ellipse">
            <a:avLst/>
          </a:prstGeom>
          <a:solidFill>
            <a:srgbClr val="8A10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54864" bIns="54864"/>
          <a:lstStyle/>
          <a:p>
            <a:pPr algn="ctr">
              <a:spcAft>
                <a:spcPts val="200"/>
              </a:spcAft>
            </a:pPr>
            <a:r>
              <a:rPr sz="2000" b="1">
                <a:solidFill>
                  <a:srgbClr val="FFFFFF"/>
                </a:solidFill>
                <a:latin typeface="Segoe UI"/>
              </a:rPr>
              <a:t>S</a:t>
            </a:r>
          </a:p>
        </p:txBody>
      </p:sp>
      <p:sp>
        <p:nvSpPr>
          <p:cNvPr id="5" name="Rectangle 4"/>
          <p:cNvSpPr/>
          <p:nvPr/>
        </p:nvSpPr>
        <p:spPr>
          <a:xfrm>
            <a:off x="1143000" y="91440"/>
            <a:ext cx="10607040" cy="5029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54864" bIns="54864"/>
          <a:lstStyle/>
          <a:p>
            <a:pPr algn="l">
              <a:spcAft>
                <a:spcPts val="200"/>
              </a:spcAft>
            </a:pPr>
            <a:r>
              <a:rPr sz="2500" b="1">
                <a:solidFill>
                  <a:srgbClr val="FFFFFF"/>
                </a:solidFill>
                <a:latin typeface="Segoe UI"/>
              </a:rPr>
              <a:t>O sistema em execução</a:t>
            </a:r>
          </a:p>
        </p:txBody>
      </p:sp>
      <p:sp>
        <p:nvSpPr>
          <p:cNvPr id="6" name="Rectangle 5"/>
          <p:cNvSpPr/>
          <p:nvPr/>
        </p:nvSpPr>
        <p:spPr>
          <a:xfrm>
            <a:off x="1143000" y="548640"/>
            <a:ext cx="10607040" cy="3657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54864" bIns="54864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C9D4E5"/>
                </a:solidFill>
                <a:latin typeface="Segoe UI"/>
              </a:rPr>
              <a:t>Flask 0.12 + SQLite · capturas do código original e do corrigido</a:t>
            </a:r>
          </a:p>
        </p:txBody>
      </p:sp>
      <p:sp>
        <p:nvSpPr>
          <p:cNvPr id="7" name="Rectangle 6"/>
          <p:cNvSpPr/>
          <p:nvPr/>
        </p:nvSpPr>
        <p:spPr>
          <a:xfrm>
            <a:off x="411480" y="6510528"/>
            <a:ext cx="11338560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54864" bIns="54864"/>
          <a:lstStyle/>
          <a:p>
            <a:pPr algn="l">
              <a:spcAft>
                <a:spcPts val="200"/>
              </a:spcAft>
            </a:pPr>
            <a:r>
              <a:rPr sz="900" b="0">
                <a:solidFill>
                  <a:srgbClr val="5B6472"/>
                </a:solidFill>
                <a:latin typeface="Segoe UI"/>
              </a:rPr>
              <a:t>Gabriel Felipe Jess Meira · Verificação e Validação · github.com/gabrielfjm/Hotel_Management_System</a:t>
            </a:r>
          </a:p>
        </p:txBody>
      </p:sp>
      <p:pic>
        <p:nvPicPr>
          <p:cNvPr id="8" name="Picture 7" descr="original-02-log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234440"/>
            <a:ext cx="5016137" cy="2194560"/>
          </a:xfrm>
          <a:prstGeom prst="rect">
            <a:avLst/>
          </a:prstGeom>
          <a:ln w="12700">
            <a:solidFill>
              <a:srgbClr val="D7DDE6"/>
            </a:solidFill>
          </a:ln>
        </p:spPr>
      </p:pic>
      <p:sp>
        <p:nvSpPr>
          <p:cNvPr id="9" name="Rectangle 8"/>
          <p:cNvSpPr/>
          <p:nvPr/>
        </p:nvSpPr>
        <p:spPr>
          <a:xfrm>
            <a:off x="411480" y="3447288"/>
            <a:ext cx="5016137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54864" bIns="54864"/>
          <a:lstStyle/>
          <a:p>
            <a:pPr algn="ctr">
              <a:spcAft>
                <a:spcPts val="200"/>
              </a:spcAft>
            </a:pPr>
            <a:r>
              <a:rPr sz="950" b="0">
                <a:solidFill>
                  <a:srgbClr val="5B6472"/>
                </a:solidFill>
                <a:latin typeface="Segoe UI"/>
              </a:rPr>
              <a:t>Login (original)</a:t>
            </a:r>
          </a:p>
        </p:txBody>
      </p:sp>
      <p:pic>
        <p:nvPicPr>
          <p:cNvPr id="10" name="Picture 9" descr="original-04-consulta-formulari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2200" y="1234440"/>
            <a:ext cx="5016137" cy="2194560"/>
          </a:xfrm>
          <a:prstGeom prst="rect">
            <a:avLst/>
          </a:prstGeom>
          <a:ln w="12700">
            <a:solidFill>
              <a:srgbClr val="D7DDE6"/>
            </a:solidFill>
          </a:ln>
        </p:spPr>
      </p:pic>
      <p:sp>
        <p:nvSpPr>
          <p:cNvPr id="11" name="Rectangle 10"/>
          <p:cNvSpPr/>
          <p:nvPr/>
        </p:nvSpPr>
        <p:spPr>
          <a:xfrm>
            <a:off x="6172200" y="3447288"/>
            <a:ext cx="5016137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54864" bIns="54864"/>
          <a:lstStyle/>
          <a:p>
            <a:pPr algn="ctr">
              <a:spcAft>
                <a:spcPts val="200"/>
              </a:spcAft>
            </a:pPr>
            <a:r>
              <a:rPr sz="950" b="0">
                <a:solidFill>
                  <a:srgbClr val="5B6472"/>
                </a:solidFill>
                <a:latin typeface="Segoe UI"/>
              </a:rPr>
              <a:t>Consulta de disponibilidade: 20/10/2026 a 22/10/2026, 4 hóspedes</a:t>
            </a:r>
          </a:p>
        </p:txBody>
      </p:sp>
      <p:pic>
        <p:nvPicPr>
          <p:cNvPr id="12" name="Picture 11" descr="original-05-consulta-resultad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1480" y="3840480"/>
            <a:ext cx="5016137" cy="2194560"/>
          </a:xfrm>
          <a:prstGeom prst="rect">
            <a:avLst/>
          </a:prstGeom>
          <a:ln w="12700">
            <a:solidFill>
              <a:srgbClr val="D7DDE6"/>
            </a:solidFill>
          </a:ln>
        </p:spPr>
      </p:pic>
      <p:sp>
        <p:nvSpPr>
          <p:cNvPr id="13" name="Rectangle 12"/>
          <p:cNvSpPr/>
          <p:nvPr/>
        </p:nvSpPr>
        <p:spPr>
          <a:xfrm>
            <a:off x="411480" y="6053327"/>
            <a:ext cx="5016137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54864" bIns="54864"/>
          <a:lstStyle/>
          <a:p>
            <a:pPr algn="ctr">
              <a:spcAft>
                <a:spcPts val="200"/>
              </a:spcAft>
            </a:pPr>
            <a:r>
              <a:rPr sz="950" b="0">
                <a:solidFill>
                  <a:srgbClr val="5B6472"/>
                </a:solidFill>
                <a:latin typeface="Segoe UI"/>
              </a:rPr>
              <a:t>Original: o 101 livre some (DEF-01) e o 102, de capacidade 3, aparece (DEF-14)</a:t>
            </a:r>
          </a:p>
        </p:txBody>
      </p:sp>
      <p:pic>
        <p:nvPicPr>
          <p:cNvPr id="14" name="Picture 13" descr="corrigida-05-consulta-resultado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72200" y="3840480"/>
            <a:ext cx="5016137" cy="2194560"/>
          </a:xfrm>
          <a:prstGeom prst="rect">
            <a:avLst/>
          </a:prstGeom>
          <a:ln w="12700">
            <a:solidFill>
              <a:srgbClr val="D7DDE6"/>
            </a:solidFill>
          </a:ln>
        </p:spPr>
      </p:pic>
      <p:sp>
        <p:nvSpPr>
          <p:cNvPr id="15" name="Rectangle 14"/>
          <p:cNvSpPr/>
          <p:nvPr/>
        </p:nvSpPr>
        <p:spPr>
          <a:xfrm>
            <a:off x="6172200" y="6053327"/>
            <a:ext cx="5016137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54864" bIns="54864"/>
          <a:lstStyle/>
          <a:p>
            <a:pPr algn="ctr">
              <a:spcAft>
                <a:spcPts val="200"/>
              </a:spcAft>
            </a:pPr>
            <a:r>
              <a:rPr sz="950" b="0">
                <a:solidFill>
                  <a:srgbClr val="5B6472"/>
                </a:solidFill>
                <a:latin typeface="Segoe UI"/>
              </a:rPr>
              <a:t>Corrigido: só o quarto de capacidade 4 aparece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54864" bIns="54864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8A10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54864" bIns="54864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411480" y="201168"/>
            <a:ext cx="566928" cy="566928"/>
          </a:xfrm>
          <a:prstGeom prst="ellipse">
            <a:avLst/>
          </a:prstGeom>
          <a:solidFill>
            <a:srgbClr val="8A10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54864" bIns="54864"/>
          <a:lstStyle/>
          <a:p>
            <a:pPr algn="ctr">
              <a:spcAft>
                <a:spcPts val="200"/>
              </a:spcAft>
            </a:pPr>
            <a:r>
              <a:rPr sz="2000" b="1">
                <a:solidFill>
                  <a:srgbClr val="FFFFFF"/>
                </a:solidFill>
                <a:latin typeface="Segoe UI"/>
              </a:rPr>
              <a:t>D</a:t>
            </a:r>
          </a:p>
        </p:txBody>
      </p:sp>
      <p:sp>
        <p:nvSpPr>
          <p:cNvPr id="5" name="Rectangle 4"/>
          <p:cNvSpPr/>
          <p:nvPr/>
        </p:nvSpPr>
        <p:spPr>
          <a:xfrm>
            <a:off x="1143000" y="91440"/>
            <a:ext cx="10607040" cy="5029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54864" bIns="54864"/>
          <a:lstStyle/>
          <a:p>
            <a:pPr algn="l">
              <a:spcAft>
                <a:spcPts val="200"/>
              </a:spcAft>
            </a:pPr>
            <a:r>
              <a:rPr sz="2500" b="1">
                <a:solidFill>
                  <a:srgbClr val="FFFFFF"/>
                </a:solidFill>
                <a:latin typeface="Segoe UI"/>
              </a:rPr>
              <a:t>DEF-01: o predicado de conflito é uma tautologia</a:t>
            </a:r>
          </a:p>
        </p:txBody>
      </p:sp>
      <p:sp>
        <p:nvSpPr>
          <p:cNvPr id="6" name="Rectangle 5"/>
          <p:cNvSpPr/>
          <p:nvPr/>
        </p:nvSpPr>
        <p:spPr>
          <a:xfrm>
            <a:off x="1143000" y="548640"/>
            <a:ext cx="10607040" cy="3657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54864" bIns="54864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C9D4E5"/>
                </a:solidFill>
                <a:latin typeface="Segoe UI"/>
              </a:rPr>
              <a:t>hotel/views.py · reserve() e show_rooms() · commit 2d1b2cd no fork</a:t>
            </a:r>
          </a:p>
        </p:txBody>
      </p:sp>
      <p:sp>
        <p:nvSpPr>
          <p:cNvPr id="7" name="Rectangle 6"/>
          <p:cNvSpPr/>
          <p:nvPr/>
        </p:nvSpPr>
        <p:spPr>
          <a:xfrm>
            <a:off x="411480" y="6510528"/>
            <a:ext cx="11338560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54864" bIns="54864"/>
          <a:lstStyle/>
          <a:p>
            <a:pPr algn="l">
              <a:spcAft>
                <a:spcPts val="200"/>
              </a:spcAft>
            </a:pPr>
            <a:r>
              <a:rPr sz="900" b="0">
                <a:solidFill>
                  <a:srgbClr val="5B6472"/>
                </a:solidFill>
                <a:latin typeface="Segoe UI"/>
              </a:rPr>
              <a:t>Gabriel Felipe Jess Meira · Verificação e Validação · github.com/gabrielfjm/Hotel_Management_System</a:t>
            </a:r>
          </a:p>
        </p:txBody>
      </p:sp>
      <p:sp>
        <p:nvSpPr>
          <p:cNvPr id="8" name="Rectangle 7"/>
          <p:cNvSpPr/>
          <p:nvPr/>
        </p:nvSpPr>
        <p:spPr>
          <a:xfrm>
            <a:off x="411480" y="1280160"/>
            <a:ext cx="5577840" cy="2880360"/>
          </a:xfrm>
          <a:prstGeom prst="rect">
            <a:avLst/>
          </a:prstGeom>
          <a:solidFill>
            <a:srgbClr val="FDEEEE"/>
          </a:solidFill>
          <a:ln w="9525">
            <a:solidFill>
              <a:srgbClr val="E8B4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54864" bIns="54864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8A1038"/>
                </a:solidFill>
                <a:latin typeface="Segoe UI"/>
              </a:rPr>
              <a:t>Original (linhas 208–210)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0B1F3A"/>
                </a:solidFill>
                <a:latin typeface="Consolas"/>
              </a:rPr>
              <a:t>if each_booking.room_id == int(each) and (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0B1F3A"/>
                </a:solidFill>
                <a:latin typeface="Consolas"/>
              </a:rPr>
              <a:t>    (c1 &lt;= d1 and d2 &lt;= c2) or (d1 &lt;= c1 and d2 &lt;= c2) or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0B1F3A"/>
                </a:solidFill>
                <a:latin typeface="Consolas"/>
              </a:rPr>
              <a:t>    (c1 &lt;= d1 and c2 &lt;= d2) or (d1 &lt;= c1 and c2 &lt;= d2)):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0B1F3A"/>
                </a:solidFill>
                <a:latin typeface="Consolas"/>
              </a:rPr>
              <a:t>    flash("...not available...")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5B6472"/>
                </a:solidFill>
                <a:latin typeface="Segoe UI"/>
              </a:rPr>
              <a:t>Se d1 ≤ c1, vale a 2ª ou a 4ª alternativa (d2 ≤ c2 ou c2 ≤ d2); se c1 ≤ d1, vale a 1ª ou a 3ª. Para quaisquer datas, a condição é verdadeira.</a:t>
            </a:r>
          </a:p>
        </p:txBody>
      </p:sp>
      <p:sp>
        <p:nvSpPr>
          <p:cNvPr id="9" name="Rectangle 8"/>
          <p:cNvSpPr/>
          <p:nvPr/>
        </p:nvSpPr>
        <p:spPr>
          <a:xfrm>
            <a:off x="6217920" y="1280160"/>
            <a:ext cx="5577840" cy="2880360"/>
          </a:xfrm>
          <a:prstGeom prst="rect">
            <a:avLst/>
          </a:prstGeom>
          <a:solidFill>
            <a:srgbClr val="EAF7EF"/>
          </a:solidFill>
          <a:ln w="9525">
            <a:solidFill>
              <a:srgbClr val="A9D8B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54864" bIns="54864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1E8E5A"/>
                </a:solidFill>
                <a:latin typeface="Segoe UI"/>
              </a:rPr>
              <a:t>Corrigido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0B1F3A"/>
                </a:solidFill>
                <a:latin typeface="Consolas"/>
              </a:rPr>
              <a:t>def _periodos_conflitam(a1, a2, b1, b2):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0B1F3A"/>
                </a:solidFill>
                <a:latin typeface="Consolas"/>
              </a:rPr>
              <a:t>    return a1 &lt; b2 and b1 &lt; a2   # [entrada, saída)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0B1F3A"/>
                </a:solidFill>
                <a:latin typeface="Consolas"/>
              </a:rPr>
              <a:t> 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0B1F3A"/>
                </a:solidFill>
                <a:latin typeface="Consolas"/>
              </a:rPr>
              <a:t>vinculos = db.session.query(...).join(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0B1F3A"/>
                </a:solidFill>
                <a:latin typeface="Consolas"/>
              </a:rPr>
              <a:t>    Reservations, Booked.brid == Reservations.rid)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5B6472"/>
                </a:solidFill>
                <a:latin typeface="Segoe UI"/>
              </a:rPr>
              <a:t>Interseção de intervalos semiabertos + junção de cada vínculo com a própria reserva (DEF-15).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11480" y="4389120"/>
            <a:ext cx="11384280" cy="2011680"/>
          </a:xfrm>
          <a:prstGeom prst="rect">
            <a:avLst/>
          </a:prstGeom>
          <a:solidFill>
            <a:srgbClr val="F3F5F9"/>
          </a:solidFill>
          <a:ln w="9525">
            <a:solidFill>
              <a:srgbClr val="D7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54864" bIns="54864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8A1038"/>
                </a:solidFill>
                <a:latin typeface="Segoe UI"/>
              </a:rPr>
              <a:t>Como os testes revelaram</a:t>
            </a:r>
          </a:p>
          <a:p>
            <a:pPr algn="l">
              <a:spcAft>
                <a:spcPts val="300"/>
              </a:spcAft>
            </a:pPr>
            <a:r>
              <a:rPr sz="1050" b="0">
                <a:solidFill>
                  <a:srgbClr val="0B1F3A"/>
                </a:solidFill>
                <a:latin typeface="Segoe UI"/>
              </a:rPr>
              <a:t>• Funcional (valor limite): CT-003 (entrar em 12/03/2030, dia em que a outra estadia sai) foi recusado no original</a:t>
            </a:r>
          </a:p>
          <a:p>
            <a:pPr algn="l">
              <a:spcAft>
                <a:spcPts val="300"/>
              </a:spcAft>
            </a:pPr>
            <a:r>
              <a:rPr sz="1050" b="0">
                <a:solidFill>
                  <a:srgbClr val="0B1F3A"/>
                </a:solidFill>
                <a:latin typeface="Segoe UI"/>
              </a:rPr>
              <a:t>• Estrutural: a ampliação do CT-012 revelou DEF-15 (produto cartesiano), escondido pela tautologia até ela ser corrigida</a:t>
            </a:r>
          </a:p>
          <a:p>
            <a:pPr algn="l">
              <a:spcAft>
                <a:spcPts val="300"/>
              </a:spcAft>
            </a:pPr>
            <a:r>
              <a:rPr sz="1050" b="0">
                <a:solidFill>
                  <a:srgbClr val="0B1F3A"/>
                </a:solidFill>
                <a:latin typeface="Segoe UI"/>
              </a:rPr>
              <a:t>• Mutação: a ampliação do CT-003 (sair em 10/03, dia em que a outra entra; estadia antes) matou 3 mutantes do predicado</a:t>
            </a:r>
          </a:p>
          <a:p>
            <a:pPr algn="l">
              <a:spcAft>
                <a:spcPts val="300"/>
              </a:spcAft>
            </a:pPr>
            <a:r>
              <a:rPr sz="1050" b="0">
                <a:solidFill>
                  <a:srgbClr val="0B1F3A"/>
                </a:solidFill>
                <a:latin typeface="Segoe UI"/>
              </a:rPr>
              <a:t>• Mutação: a ampliação do CT-012 matou o mutante Booked.brid &gt;= Reservations.rid na junção corrigida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54864" bIns="54864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8A10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54864" bIns="54864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411480" y="201168"/>
            <a:ext cx="566928" cy="566928"/>
          </a:xfrm>
          <a:prstGeom prst="ellipse">
            <a:avLst/>
          </a:prstGeom>
          <a:solidFill>
            <a:srgbClr val="8A10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54864" bIns="54864"/>
          <a:lstStyle/>
          <a:p>
            <a:pPr algn="ctr">
              <a:spcAft>
                <a:spcPts val="200"/>
              </a:spcAft>
            </a:pPr>
            <a:r>
              <a:rPr sz="2000" b="1">
                <a:solidFill>
                  <a:srgbClr val="FFFFFF"/>
                </a:solidFill>
                <a:latin typeface="Segoe UI"/>
              </a:rPr>
              <a:t>V</a:t>
            </a:r>
          </a:p>
        </p:txBody>
      </p:sp>
      <p:sp>
        <p:nvSpPr>
          <p:cNvPr id="5" name="Rectangle 4"/>
          <p:cNvSpPr/>
          <p:nvPr/>
        </p:nvSpPr>
        <p:spPr>
          <a:xfrm>
            <a:off x="1143000" y="91440"/>
            <a:ext cx="10607040" cy="5029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54864" bIns="54864"/>
          <a:lstStyle/>
          <a:p>
            <a:pPr algn="l">
              <a:spcAft>
                <a:spcPts val="200"/>
              </a:spcAft>
            </a:pPr>
            <a:r>
              <a:rPr sz="2500" b="1">
                <a:solidFill>
                  <a:srgbClr val="FFFFFF"/>
                </a:solidFill>
                <a:latin typeface="Segoe UI"/>
              </a:rPr>
              <a:t>V&amp;V TestLab: gestão do projeto de testes</a:t>
            </a:r>
          </a:p>
        </p:txBody>
      </p:sp>
      <p:sp>
        <p:nvSpPr>
          <p:cNvPr id="6" name="Rectangle 5"/>
          <p:cNvSpPr/>
          <p:nvPr/>
        </p:nvSpPr>
        <p:spPr>
          <a:xfrm>
            <a:off x="1143000" y="548640"/>
            <a:ext cx="10607040" cy="3657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54864" bIns="54864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C9D4E5"/>
                </a:solidFill>
                <a:latin typeface="Segoe UI"/>
              </a:rPr>
              <a:t>estudo do hotel importado do backup gerado a partir das evidências</a:t>
            </a:r>
          </a:p>
        </p:txBody>
      </p:sp>
      <p:sp>
        <p:nvSpPr>
          <p:cNvPr id="7" name="Rectangle 6"/>
          <p:cNvSpPr/>
          <p:nvPr/>
        </p:nvSpPr>
        <p:spPr>
          <a:xfrm>
            <a:off x="411480" y="6510528"/>
            <a:ext cx="11338560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54864" bIns="54864"/>
          <a:lstStyle/>
          <a:p>
            <a:pPr algn="l">
              <a:spcAft>
                <a:spcPts val="200"/>
              </a:spcAft>
            </a:pPr>
            <a:r>
              <a:rPr sz="900" b="0">
                <a:solidFill>
                  <a:srgbClr val="5B6472"/>
                </a:solidFill>
                <a:latin typeface="Segoe UI"/>
              </a:rPr>
              <a:t>Gabriel Felipe Jess Meira · Verificação e Validação · github.com/gabrielfjm/Hotel_Management_System</a:t>
            </a:r>
          </a:p>
        </p:txBody>
      </p:sp>
      <p:pic>
        <p:nvPicPr>
          <p:cNvPr id="8" name="Picture 7" descr="01-visao-ger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234440"/>
            <a:ext cx="3674612" cy="2194560"/>
          </a:xfrm>
          <a:prstGeom prst="rect">
            <a:avLst/>
          </a:prstGeom>
          <a:ln w="12700">
            <a:solidFill>
              <a:srgbClr val="D7DDE6"/>
            </a:solidFill>
          </a:ln>
        </p:spPr>
      </p:pic>
      <p:sp>
        <p:nvSpPr>
          <p:cNvPr id="9" name="Rectangle 8"/>
          <p:cNvSpPr/>
          <p:nvPr/>
        </p:nvSpPr>
        <p:spPr>
          <a:xfrm>
            <a:off x="411480" y="3447288"/>
            <a:ext cx="3674611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54864" bIns="54864"/>
          <a:lstStyle/>
          <a:p>
            <a:pPr algn="ctr">
              <a:spcAft>
                <a:spcPts val="200"/>
              </a:spcAft>
            </a:pPr>
            <a:r>
              <a:rPr sz="950" b="0">
                <a:solidFill>
                  <a:srgbClr val="5B6472"/>
                </a:solidFill>
                <a:latin typeface="Segoe UI"/>
              </a:rPr>
              <a:t>Visão geral das três etapas</a:t>
            </a:r>
          </a:p>
        </p:txBody>
      </p:sp>
      <p:pic>
        <p:nvPicPr>
          <p:cNvPr id="10" name="Picture 9" descr="09-teste-funcional-detalh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2200" y="1234440"/>
            <a:ext cx="3674612" cy="2194560"/>
          </a:xfrm>
          <a:prstGeom prst="rect">
            <a:avLst/>
          </a:prstGeom>
          <a:ln w="12700">
            <a:solidFill>
              <a:srgbClr val="D7DDE6"/>
            </a:solidFill>
          </a:ln>
        </p:spPr>
      </p:pic>
      <p:sp>
        <p:nvSpPr>
          <p:cNvPr id="11" name="Rectangle 10"/>
          <p:cNvSpPr/>
          <p:nvPr/>
        </p:nvSpPr>
        <p:spPr>
          <a:xfrm>
            <a:off x="6172200" y="3447288"/>
            <a:ext cx="3674611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54864" bIns="54864"/>
          <a:lstStyle/>
          <a:p>
            <a:pPr algn="ctr">
              <a:spcAft>
                <a:spcPts val="200"/>
              </a:spcAft>
            </a:pPr>
            <a:r>
              <a:rPr sz="950" b="0">
                <a:solidFill>
                  <a:srgbClr val="5B6472"/>
                </a:solidFill>
                <a:latin typeface="Segoe UI"/>
              </a:rPr>
              <a:t>Teste funcional: entrada, esperado, obtido e assertivas</a:t>
            </a:r>
          </a:p>
        </p:txBody>
      </p:sp>
      <p:pic>
        <p:nvPicPr>
          <p:cNvPr id="12" name="Picture 11" descr="10-teste-estrutural-graf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1480" y="3840480"/>
            <a:ext cx="3674612" cy="2194560"/>
          </a:xfrm>
          <a:prstGeom prst="rect">
            <a:avLst/>
          </a:prstGeom>
          <a:ln w="12700">
            <a:solidFill>
              <a:srgbClr val="D7DDE6"/>
            </a:solidFill>
          </a:ln>
        </p:spPr>
      </p:pic>
      <p:sp>
        <p:nvSpPr>
          <p:cNvPr id="13" name="Rectangle 12"/>
          <p:cNvSpPr/>
          <p:nvPr/>
        </p:nvSpPr>
        <p:spPr>
          <a:xfrm>
            <a:off x="411480" y="6053327"/>
            <a:ext cx="3674611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54864" bIns="54864"/>
          <a:lstStyle/>
          <a:p>
            <a:pPr algn="ctr">
              <a:spcAft>
                <a:spcPts val="200"/>
              </a:spcAft>
            </a:pPr>
            <a:r>
              <a:rPr sz="950" b="0">
                <a:solidFill>
                  <a:srgbClr val="5B6472"/>
                </a:solidFill>
                <a:latin typeface="Segoe UI"/>
              </a:rPr>
              <a:t>Teste estrutural: grafo percorrido pelo caso</a:t>
            </a:r>
          </a:p>
        </p:txBody>
      </p:sp>
      <p:pic>
        <p:nvPicPr>
          <p:cNvPr id="14" name="Picture 13" descr="11-teste-mutacao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72200" y="3840480"/>
            <a:ext cx="3674612" cy="2194560"/>
          </a:xfrm>
          <a:prstGeom prst="rect">
            <a:avLst/>
          </a:prstGeom>
          <a:ln w="12700">
            <a:solidFill>
              <a:srgbClr val="D7DDE6"/>
            </a:solidFill>
          </a:ln>
        </p:spPr>
      </p:pic>
      <p:sp>
        <p:nvSpPr>
          <p:cNvPr id="15" name="Rectangle 14"/>
          <p:cNvSpPr/>
          <p:nvPr/>
        </p:nvSpPr>
        <p:spPr>
          <a:xfrm>
            <a:off x="6172200" y="6053327"/>
            <a:ext cx="3674611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54864" bIns="54864"/>
          <a:lstStyle/>
          <a:p>
            <a:pPr algn="ctr">
              <a:spcAft>
                <a:spcPts val="200"/>
              </a:spcAft>
            </a:pPr>
            <a:r>
              <a:rPr sz="950" b="0">
                <a:solidFill>
                  <a:srgbClr val="5B6472"/>
                </a:solidFill>
                <a:latin typeface="Segoe UI"/>
              </a:rPr>
              <a:t>Teste de mutação: cálculo do escore e mutantes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54864" bIns="54864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8A10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54864" bIns="54864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411480" y="201168"/>
            <a:ext cx="566928" cy="566928"/>
          </a:xfrm>
          <a:prstGeom prst="ellipse">
            <a:avLst/>
          </a:prstGeom>
          <a:solidFill>
            <a:srgbClr val="8A10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54864" bIns="54864"/>
          <a:lstStyle/>
          <a:p>
            <a:pPr algn="ctr">
              <a:spcAft>
                <a:spcPts val="200"/>
              </a:spcAft>
            </a:pPr>
            <a:r>
              <a:rPr sz="2000" b="1">
                <a:solidFill>
                  <a:srgbClr val="FFFFFF"/>
                </a:solidFill>
                <a:latin typeface="Segoe UI"/>
              </a:rPr>
              <a:t>R</a:t>
            </a:r>
          </a:p>
        </p:txBody>
      </p:sp>
      <p:sp>
        <p:nvSpPr>
          <p:cNvPr id="5" name="Rectangle 4"/>
          <p:cNvSpPr/>
          <p:nvPr/>
        </p:nvSpPr>
        <p:spPr>
          <a:xfrm>
            <a:off x="1143000" y="91440"/>
            <a:ext cx="10607040" cy="5029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54864" bIns="54864"/>
          <a:lstStyle/>
          <a:p>
            <a:pPr algn="l">
              <a:spcAft>
                <a:spcPts val="200"/>
              </a:spcAft>
            </a:pPr>
            <a:r>
              <a:rPr sz="2500" b="1">
                <a:solidFill>
                  <a:srgbClr val="FFFFFF"/>
                </a:solidFill>
                <a:latin typeface="Segoe UI"/>
              </a:rPr>
              <a:t>Roteiro da demonstração ao vivo</a:t>
            </a:r>
          </a:p>
        </p:txBody>
      </p:sp>
      <p:sp>
        <p:nvSpPr>
          <p:cNvPr id="6" name="Rectangle 5"/>
          <p:cNvSpPr/>
          <p:nvPr/>
        </p:nvSpPr>
        <p:spPr>
          <a:xfrm>
            <a:off x="1143000" y="548640"/>
            <a:ext cx="10607040" cy="3657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54864" bIns="54864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C9D4E5"/>
                </a:solidFill>
                <a:latin typeface="Segoe UI"/>
              </a:rPr>
              <a:t>~5 minutos · dois terminais e o navegador</a:t>
            </a:r>
          </a:p>
        </p:txBody>
      </p:sp>
      <p:sp>
        <p:nvSpPr>
          <p:cNvPr id="7" name="Rectangle 6"/>
          <p:cNvSpPr/>
          <p:nvPr/>
        </p:nvSpPr>
        <p:spPr>
          <a:xfrm>
            <a:off x="411480" y="6510528"/>
            <a:ext cx="11338560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54864" bIns="54864"/>
          <a:lstStyle/>
          <a:p>
            <a:pPr algn="l">
              <a:spcAft>
                <a:spcPts val="200"/>
              </a:spcAft>
            </a:pPr>
            <a:r>
              <a:rPr sz="900" b="0">
                <a:solidFill>
                  <a:srgbClr val="5B6472"/>
                </a:solidFill>
                <a:latin typeface="Segoe UI"/>
              </a:rPr>
              <a:t>Gabriel Felipe Jess Meira · Verificação e Validação · github.com/gabrielfjm/Hotel_Management_System</a:t>
            </a:r>
          </a:p>
        </p:txBody>
      </p:sp>
      <p:sp>
        <p:nvSpPr>
          <p:cNvPr id="8" name="Oval 7"/>
          <p:cNvSpPr/>
          <p:nvPr/>
        </p:nvSpPr>
        <p:spPr>
          <a:xfrm>
            <a:off x="502920" y="1280160"/>
            <a:ext cx="502920" cy="502920"/>
          </a:xfrm>
          <a:prstGeom prst="ellipse">
            <a:avLst/>
          </a:prstGeom>
          <a:solidFill>
            <a:srgbClr val="1F5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54864" bIns="54864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Segoe UI"/>
              </a:rPr>
              <a:t>1</a:t>
            </a:r>
          </a:p>
        </p:txBody>
      </p:sp>
      <p:sp>
        <p:nvSpPr>
          <p:cNvPr id="9" name="Rectangle 8"/>
          <p:cNvSpPr/>
          <p:nvPr/>
        </p:nvSpPr>
        <p:spPr>
          <a:xfrm>
            <a:off x="1188720" y="1234439"/>
            <a:ext cx="10515600" cy="7315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54864" bIns="54864"/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8A1038"/>
                </a:solidFill>
                <a:latin typeface="Segoe UI"/>
              </a:rPr>
              <a:t>Sistema</a:t>
            </a:r>
          </a:p>
          <a:p>
            <a:pPr algn="l">
              <a:spcAft>
                <a:spcPts val="0"/>
              </a:spcAft>
            </a:pPr>
            <a:r>
              <a:rPr sz="1100" b="0">
                <a:solidFill>
                  <a:srgbClr val="0B1F3A"/>
                </a:solidFill>
                <a:latin typeface="Segoe UI"/>
              </a:rPr>
              <a:t>output/hotel-management-testado → .\executar.ps1 → http://127.0.0.1:5000 (ana@example.test / senha123)</a:t>
            </a:r>
          </a:p>
        </p:txBody>
      </p:sp>
      <p:sp>
        <p:nvSpPr>
          <p:cNvPr id="10" name="Oval 9"/>
          <p:cNvSpPr/>
          <p:nvPr/>
        </p:nvSpPr>
        <p:spPr>
          <a:xfrm>
            <a:off x="502920" y="2130552"/>
            <a:ext cx="502920" cy="502920"/>
          </a:xfrm>
          <a:prstGeom prst="ellipse">
            <a:avLst/>
          </a:prstGeom>
          <a:solidFill>
            <a:srgbClr val="1F5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54864" bIns="54864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Segoe UI"/>
              </a:rPr>
              <a:t>2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188720" y="2084832"/>
            <a:ext cx="10515600" cy="7315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54864" bIns="54864"/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8A1038"/>
                </a:solidFill>
                <a:latin typeface="Segoe UI"/>
              </a:rPr>
              <a:t>Suíte</a:t>
            </a:r>
          </a:p>
          <a:p>
            <a:pPr algn="l">
              <a:spcAft>
                <a:spcPts val="0"/>
              </a:spcAft>
            </a:pPr>
            <a:r>
              <a:rPr sz="1100" b="0">
                <a:solidFill>
                  <a:srgbClr val="0B1F3A"/>
                </a:solidFill>
                <a:latin typeface="Segoe UI"/>
              </a:rPr>
              <a:t>.\etapas.ps1 -SemMutacao → etapas 1 e 2 no original (defeitos em xfail) e suíte final toda verde</a:t>
            </a:r>
          </a:p>
        </p:txBody>
      </p:sp>
      <p:sp>
        <p:nvSpPr>
          <p:cNvPr id="12" name="Oval 11"/>
          <p:cNvSpPr/>
          <p:nvPr/>
        </p:nvSpPr>
        <p:spPr>
          <a:xfrm>
            <a:off x="502920" y="2980944"/>
            <a:ext cx="502920" cy="502920"/>
          </a:xfrm>
          <a:prstGeom prst="ellipse">
            <a:avLst/>
          </a:prstGeom>
          <a:solidFill>
            <a:srgbClr val="1F5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54864" bIns="54864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Segoe UI"/>
              </a:rPr>
              <a:t>3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188720" y="2935224"/>
            <a:ext cx="10515600" cy="7315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54864" bIns="54864"/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8A1038"/>
                </a:solidFill>
                <a:latin typeface="Segoe UI"/>
              </a:rPr>
              <a:t>V&amp;V TestLab</a:t>
            </a:r>
          </a:p>
          <a:p>
            <a:pPr algn="l">
              <a:spcAft>
                <a:spcPts val="0"/>
              </a:spcAft>
            </a:pPr>
            <a:r>
              <a:rPr sz="1100" b="0">
                <a:solidFill>
                  <a:srgbClr val="0B1F3A"/>
                </a:solidFill>
                <a:latin typeface="Segoe UI"/>
              </a:rPr>
              <a:t>raiz → npm run dev → Dados e exportação → importar output/hotel-vvtestlab-projeto-inicial.json</a:t>
            </a:r>
          </a:p>
        </p:txBody>
      </p:sp>
      <p:sp>
        <p:nvSpPr>
          <p:cNvPr id="14" name="Oval 13"/>
          <p:cNvSpPr/>
          <p:nvPr/>
        </p:nvSpPr>
        <p:spPr>
          <a:xfrm>
            <a:off x="502920" y="3831336"/>
            <a:ext cx="502920" cy="502920"/>
          </a:xfrm>
          <a:prstGeom prst="ellipse">
            <a:avLst/>
          </a:prstGeom>
          <a:solidFill>
            <a:srgbClr val="1F5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54864" bIns="54864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Segoe UI"/>
              </a:rPr>
              <a:t>4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188720" y="3785616"/>
            <a:ext cx="10515600" cy="7315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54864" bIns="54864"/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8A1038"/>
                </a:solidFill>
                <a:latin typeface="Segoe UI"/>
              </a:rPr>
              <a:t>Ponte no original</a:t>
            </a:r>
          </a:p>
          <a:p>
            <a:pPr algn="l">
              <a:spcAft>
                <a:spcPts val="0"/>
              </a:spcAft>
            </a:pPr>
            <a:r>
              <a:rPr sz="1100" b="0">
                <a:solidFill>
                  <a:srgbClr val="0B1F3A"/>
                </a:solidFill>
                <a:latin typeface="Segoe UI"/>
              </a:rPr>
              <a:t>.\iniciar-integracao.ps1 -Versao original → Integração Python → Executar e sincronizar: falhas viram defeitos</a:t>
            </a:r>
          </a:p>
        </p:txBody>
      </p:sp>
      <p:sp>
        <p:nvSpPr>
          <p:cNvPr id="16" name="Oval 15"/>
          <p:cNvSpPr/>
          <p:nvPr/>
        </p:nvSpPr>
        <p:spPr>
          <a:xfrm>
            <a:off x="502920" y="4681728"/>
            <a:ext cx="502920" cy="502920"/>
          </a:xfrm>
          <a:prstGeom prst="ellipse">
            <a:avLst/>
          </a:prstGeom>
          <a:solidFill>
            <a:srgbClr val="1F5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54864" bIns="54864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Segoe UI"/>
              </a:rPr>
              <a:t>5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188720" y="4636008"/>
            <a:ext cx="10515600" cy="7315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54864" bIns="54864"/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8A1038"/>
                </a:solidFill>
                <a:latin typeface="Segoe UI"/>
              </a:rPr>
              <a:t>Ponte no corrigido</a:t>
            </a:r>
          </a:p>
          <a:p>
            <a:pPr algn="l">
              <a:spcAft>
                <a:spcPts val="0"/>
              </a:spcAft>
            </a:pPr>
            <a:r>
              <a:rPr sz="1100" b="0">
                <a:solidFill>
                  <a:srgbClr val="0B1F3A"/>
                </a:solidFill>
                <a:latin typeface="Segoe UI"/>
              </a:rPr>
              <a:t>Ctrl+C e .\iniciar-integracao.ps1 → Executar e sincronizar: todos aprovados, 100% dos desvios</a:t>
            </a:r>
          </a:p>
        </p:txBody>
      </p:sp>
      <p:sp>
        <p:nvSpPr>
          <p:cNvPr id="18" name="Oval 17"/>
          <p:cNvSpPr/>
          <p:nvPr/>
        </p:nvSpPr>
        <p:spPr>
          <a:xfrm>
            <a:off x="502920" y="5532120"/>
            <a:ext cx="502920" cy="502920"/>
          </a:xfrm>
          <a:prstGeom prst="ellipse">
            <a:avLst/>
          </a:prstGeom>
          <a:solidFill>
            <a:srgbClr val="1F5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54864" bIns="54864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Segoe UI"/>
              </a:rPr>
              <a:t>6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188720" y="5486400"/>
            <a:ext cx="10515600" cy="7315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54864" bIns="54864"/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8A1038"/>
                </a:solidFill>
                <a:latin typeface="Segoe UI"/>
              </a:rPr>
              <a:t>Mutação</a:t>
            </a:r>
          </a:p>
          <a:p>
            <a:pPr algn="l">
              <a:spcAft>
                <a:spcPts val="0"/>
              </a:spcAft>
            </a:pPr>
            <a:r>
              <a:rPr sz="1100" b="0">
                <a:solidFill>
                  <a:srgbClr val="0B1F3A"/>
                </a:solidFill>
                <a:latin typeface="Segoe UI"/>
              </a:rPr>
              <a:t>Executar mutação (~4 min) → 134/141 mortos; página Teste de mutação mostra o cálculo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