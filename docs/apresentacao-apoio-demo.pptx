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Mostre a mesma consulta nos dois códigos: a diferença resume dois defeitos.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Use se perguntarem como um defeito tão grave passou despercebido: com uma única reserva no banco o sistema parece funcionar; os valores limite de estadias adjacentes e períodos distantes expõem o problema.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 ferramenta importa JUnit, cobertura e resultado do Cosmic Ray pela ponte local e vincula tudo pelo ID CT-xxx.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 faltar tempo, pule a mutação ao vivo e importe o estudo completo (output/hotel-vvtestlab-backup.json), que já traz execuções, defeitos e métricas.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3246120"/>
            <a:ext cx="1280160" cy="73152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31520" y="1737360"/>
            <a:ext cx="10515600" cy="146304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3400" b="1">
                <a:solidFill>
                  <a:srgbClr val="FFFFFF"/>
                </a:solidFill>
                <a:latin typeface="Segoe UI"/>
              </a:rPr>
              <a:t>Teste de software de terceiros: Hotel Management System</a:t>
            </a:r>
          </a:p>
        </p:txBody>
      </p:sp>
      <p:sp>
        <p:nvSpPr>
          <p:cNvPr id="5" name="Rectangle 4"/>
          <p:cNvSpPr/>
          <p:nvPr/>
        </p:nvSpPr>
        <p:spPr>
          <a:xfrm>
            <a:off x="731520" y="3474720"/>
            <a:ext cx="10515600" cy="1645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Slides de apoio à demonstração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Gabriel Felipe Jess Meira · Verificação e Validação</a:t>
            </a:r>
          </a:p>
          <a:p>
            <a:pPr algn="l">
              <a:spcAft>
                <a:spcPts val="400"/>
              </a:spcAft>
            </a:pPr>
            <a:r>
              <a:rPr sz="1500" b="0">
                <a:solidFill>
                  <a:srgbClr val="C9D4E5"/>
                </a:solidFill>
                <a:latin typeface="Segoe UI"/>
              </a:rPr>
              <a:t>github.com/gabrielfjm/Hotel_Management_System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S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O sistema em execução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Flask 0.12 + SQLite · capturas do código original e do corrigido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pic>
        <p:nvPicPr>
          <p:cNvPr id="8" name="Picture 7" descr="original-02-log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11480" y="3447288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Login (original)</a:t>
            </a:r>
          </a:p>
        </p:txBody>
      </p:sp>
      <p:pic>
        <p:nvPicPr>
          <p:cNvPr id="10" name="Picture 9" descr="original-04-consulta-formulari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6172200" y="3447288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Consulta de disponibilidade: D+20 a D+22, 4 hóspedes</a:t>
            </a:r>
          </a:p>
        </p:txBody>
      </p:sp>
      <p:pic>
        <p:nvPicPr>
          <p:cNvPr id="12" name="Picture 11" descr="original-05-consulta-resultad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4048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3" name="Rectangle 12"/>
          <p:cNvSpPr/>
          <p:nvPr/>
        </p:nvSpPr>
        <p:spPr>
          <a:xfrm>
            <a:off x="411480" y="6053327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Original: o 101 livre some (DEF-01) e o 102, de capacidade 3, aparece (DEF-14)</a:t>
            </a:r>
          </a:p>
        </p:txBody>
      </p:sp>
      <p:pic>
        <p:nvPicPr>
          <p:cNvPr id="14" name="Picture 13" descr="corrigida-05-consulta-resultad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40480"/>
            <a:ext cx="5016137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6172200" y="6053327"/>
            <a:ext cx="5016137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Corrigido: só o 103 comporta 4 hóspedes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D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DEF-01: o predicado de conflito é uma tautologia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hotel/views.py · reserve() e show_rooms() · commit 2d1b2cd no fork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280160"/>
            <a:ext cx="5577840" cy="2880360"/>
          </a:xfrm>
          <a:prstGeom prst="rect">
            <a:avLst/>
          </a:prstGeom>
          <a:solidFill>
            <a:srgbClr val="FDEEEE"/>
          </a:solidFill>
          <a:ln w="9525">
            <a:solidFill>
              <a:srgbClr val="E8B4B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Original (linhas 208–210)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if each_booking.room_id == int(each) and (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(c1 &lt;= d1 and d2 &lt;= c2) or (d1 &lt;= c1 and d2 &lt;= c2) or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(c1 &lt;= d1 and c2 &lt;= d2) or (d1 &lt;= c1 and c2 &lt;= d2)):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flash("...not available...")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Se d1 ≤ c1, vale a 2ª ou a 4ª alternativa (d2 ≤ c2 ou c2 ≤ d2); se c1 ≤ d1, vale a 1ª ou a 3ª. Para quaisquer datas, a condição é verdadeira.</a:t>
            </a:r>
          </a:p>
        </p:txBody>
      </p:sp>
      <p:sp>
        <p:nvSpPr>
          <p:cNvPr id="9" name="Rectangle 8"/>
          <p:cNvSpPr/>
          <p:nvPr/>
        </p:nvSpPr>
        <p:spPr>
          <a:xfrm>
            <a:off x="6217920" y="1280160"/>
            <a:ext cx="5577840" cy="2880360"/>
          </a:xfrm>
          <a:prstGeom prst="rect">
            <a:avLst/>
          </a:prstGeom>
          <a:solidFill>
            <a:srgbClr val="EAF7EF"/>
          </a:solidFill>
          <a:ln w="9525">
            <a:solidFill>
              <a:srgbClr val="A9D8B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1E8E5A"/>
                </a:solidFill>
                <a:latin typeface="Segoe UI"/>
              </a:rPr>
              <a:t>Corrigido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def _periodos_conflitam(a1, a2, b1, b2):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return a1 &lt; b2 and b1 &lt; a2   # [entrada, saída)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vinculos = db.session.query(...).join(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B1F3A"/>
                </a:solidFill>
                <a:latin typeface="Consolas"/>
              </a:rPr>
              <a:t>    Reservations, Booked.brid == Reservations.rid)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B6472"/>
                </a:solidFill>
                <a:latin typeface="Segoe UI"/>
              </a:rPr>
              <a:t>Interseção de intervalos semiabertos + junção de cada vínculo com a própria reserva (DEF-15).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4389120"/>
            <a:ext cx="11384280" cy="2011680"/>
          </a:xfrm>
          <a:prstGeom prst="rect">
            <a:avLst/>
          </a:prstGeom>
          <a:solidFill>
            <a:srgbClr val="F3F5F9"/>
          </a:solidFill>
          <a:ln w="9525">
            <a:solidFill>
              <a:srgbClr val="D7DDE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8A1038"/>
                </a:solidFill>
                <a:latin typeface="Segoe UI"/>
              </a:rPr>
              <a:t>Como os testes revelaram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Funcional (valor limite): CT-021/022 (estadias adjacentes), CT-061/062 (1 dia de folga) e CT-023 (período distante): todos recusados no original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Consulta: CT-033 a CT-035, CT-063 e CT-064: o quarto livre some da lista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Estrutural: CT-045 revelou DEF-15 (produto cartesiano), escondido pela tautologia até ela ser corrigida</a:t>
            </a:r>
          </a:p>
          <a:p>
            <a:pPr algn="l">
              <a:spcAft>
                <a:spcPts val="300"/>
              </a:spcAft>
            </a:pPr>
            <a:r>
              <a:rPr sz="1050" b="0">
                <a:solidFill>
                  <a:srgbClr val="0B1F3A"/>
                </a:solidFill>
                <a:latin typeface="Segoe UI"/>
              </a:rPr>
              <a:t>• Mutação: CT-055 matou o mutante Booked.brid &gt;= Reservations.rid na junção corrigida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V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V&amp;V TestLab: gestão do projeto de testes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estudo do hotel importado do backup gerado a partir das evidências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pic>
        <p:nvPicPr>
          <p:cNvPr id="8" name="Picture 7" descr="01-visao-ge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23444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9" name="Rectangle 8"/>
          <p:cNvSpPr/>
          <p:nvPr/>
        </p:nvSpPr>
        <p:spPr>
          <a:xfrm>
            <a:off x="411480" y="3447288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Visão geral</a:t>
            </a:r>
          </a:p>
        </p:txBody>
      </p:sp>
      <p:pic>
        <p:nvPicPr>
          <p:cNvPr id="10" name="Picture 9" descr="03-caso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23444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1" name="Rectangle 10"/>
          <p:cNvSpPr/>
          <p:nvPr/>
        </p:nvSpPr>
        <p:spPr>
          <a:xfrm>
            <a:off x="6172200" y="3447288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Cenários e casos (CE, AVL, estruturais, mutação)</a:t>
            </a:r>
          </a:p>
        </p:txBody>
      </p:sp>
      <p:pic>
        <p:nvPicPr>
          <p:cNvPr id="12" name="Picture 11" descr="05-execucao-metric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384048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3" name="Rectangle 12"/>
          <p:cNvSpPr/>
          <p:nvPr/>
        </p:nvSpPr>
        <p:spPr>
          <a:xfrm>
            <a:off x="411480" y="6053327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Execução e métricas: evolução por etapa</a:t>
            </a:r>
          </a:p>
        </p:txBody>
      </p:sp>
      <p:pic>
        <p:nvPicPr>
          <p:cNvPr id="14" name="Picture 13" descr="07-defeitos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3840480"/>
            <a:ext cx="3674612" cy="2194560"/>
          </a:xfrm>
          <a:prstGeom prst="rect">
            <a:avLst/>
          </a:prstGeom>
          <a:ln w="12700">
            <a:solidFill>
              <a:srgbClr val="D7DDE6"/>
            </a:solidFill>
          </a:ln>
        </p:spPr>
      </p:pic>
      <p:sp>
        <p:nvSpPr>
          <p:cNvPr id="15" name="Rectangle 14"/>
          <p:cNvSpPr/>
          <p:nvPr/>
        </p:nvSpPr>
        <p:spPr>
          <a:xfrm>
            <a:off x="6172200" y="6053327"/>
            <a:ext cx="3674611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>
              <a:spcAft>
                <a:spcPts val="200"/>
              </a:spcAft>
            </a:pPr>
            <a:r>
              <a:rPr sz="950" b="0">
                <a:solidFill>
                  <a:srgbClr val="5B6472"/>
                </a:solidFill>
                <a:latin typeface="Segoe UI"/>
              </a:rPr>
              <a:t>Defeitos: 19 registrados e fechados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B1F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54864"/>
          </a:xfrm>
          <a:prstGeom prst="rect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411480" y="201168"/>
            <a:ext cx="566928" cy="566928"/>
          </a:xfrm>
          <a:prstGeom prst="ellipse">
            <a:avLst/>
          </a:prstGeom>
          <a:solidFill>
            <a:srgbClr val="8A103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2000" b="1">
                <a:solidFill>
                  <a:srgbClr val="FFFFFF"/>
                </a:solidFill>
                <a:latin typeface="Segoe UI"/>
              </a:rPr>
              <a:t>R</a:t>
            </a:r>
          </a:p>
        </p:txBody>
      </p:sp>
      <p:sp>
        <p:nvSpPr>
          <p:cNvPr id="5" name="Rectangle 4"/>
          <p:cNvSpPr/>
          <p:nvPr/>
        </p:nvSpPr>
        <p:spPr>
          <a:xfrm>
            <a:off x="1143000" y="91440"/>
            <a:ext cx="10607040" cy="5029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2500" b="1">
                <a:solidFill>
                  <a:srgbClr val="FFFFFF"/>
                </a:solidFill>
                <a:latin typeface="Segoe UI"/>
              </a:rPr>
              <a:t>Roteiro da demonstração ao vivo</a:t>
            </a:r>
          </a:p>
        </p:txBody>
      </p:sp>
      <p:sp>
        <p:nvSpPr>
          <p:cNvPr id="6" name="Rectangle 5"/>
          <p:cNvSpPr/>
          <p:nvPr/>
        </p:nvSpPr>
        <p:spPr>
          <a:xfrm>
            <a:off x="1143000" y="548640"/>
            <a:ext cx="106070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C9D4E5"/>
                </a:solidFill>
                <a:latin typeface="Segoe UI"/>
              </a:rPr>
              <a:t>~5 minutos · dois terminais e o navegador</a:t>
            </a:r>
          </a:p>
        </p:txBody>
      </p:sp>
      <p:sp>
        <p:nvSpPr>
          <p:cNvPr id="7" name="Rectangle 6"/>
          <p:cNvSpPr/>
          <p:nvPr/>
        </p:nvSpPr>
        <p:spPr>
          <a:xfrm>
            <a:off x="411480" y="6510528"/>
            <a:ext cx="1133856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B6472"/>
                </a:solidFill>
                <a:latin typeface="Segoe UI"/>
              </a:rPr>
              <a:t>Gabriel Felipe Jess Meira · Verificação e Validação · github.com/gabrielfjm/Hotel_Management_System</a:t>
            </a:r>
          </a:p>
        </p:txBody>
      </p:sp>
      <p:sp>
        <p:nvSpPr>
          <p:cNvPr id="8" name="Oval 7"/>
          <p:cNvSpPr/>
          <p:nvPr/>
        </p:nvSpPr>
        <p:spPr>
          <a:xfrm>
            <a:off x="502920" y="1280160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234439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Sistema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output/hotel-management-testado → .\executar.ps1 → http://127.0.0.1:5000 (ana@example.test / senha123)</a:t>
            </a:r>
          </a:p>
        </p:txBody>
      </p:sp>
      <p:sp>
        <p:nvSpPr>
          <p:cNvPr id="10" name="Oval 9"/>
          <p:cNvSpPr/>
          <p:nvPr/>
        </p:nvSpPr>
        <p:spPr>
          <a:xfrm>
            <a:off x="502920" y="2130552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2084832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Suíte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.\etapas.ps1 -SemMutacao → etapas 1 e 2 no original (defeitos em xfail) e suíte final toda verde</a:t>
            </a:r>
          </a:p>
        </p:txBody>
      </p:sp>
      <p:sp>
        <p:nvSpPr>
          <p:cNvPr id="12" name="Oval 11"/>
          <p:cNvSpPr/>
          <p:nvPr/>
        </p:nvSpPr>
        <p:spPr>
          <a:xfrm>
            <a:off x="502920" y="2980944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188720" y="2935224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V&amp;V TestLab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raiz → npm run dev → Dados e exportação → importar output/hotel-vvtestlab-projeto-inicial.json</a:t>
            </a:r>
          </a:p>
        </p:txBody>
      </p:sp>
      <p:sp>
        <p:nvSpPr>
          <p:cNvPr id="14" name="Oval 13"/>
          <p:cNvSpPr/>
          <p:nvPr/>
        </p:nvSpPr>
        <p:spPr>
          <a:xfrm>
            <a:off x="502920" y="3831336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785616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Ponte no original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.\iniciar-integracao.ps1 -Versao original → Integração Python → Executar e sincronizar: falhas viram defeitos</a:t>
            </a:r>
          </a:p>
        </p:txBody>
      </p:sp>
      <p:sp>
        <p:nvSpPr>
          <p:cNvPr id="16" name="Oval 15"/>
          <p:cNvSpPr/>
          <p:nvPr/>
        </p:nvSpPr>
        <p:spPr>
          <a:xfrm>
            <a:off x="502920" y="4681728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4636008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Ponte no corrigido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Ctrl+C e .\iniciar-integracao.ps1 → Executar e sincronizar: todos aprovados, 100% dos desvios</a:t>
            </a:r>
          </a:p>
        </p:txBody>
      </p:sp>
      <p:sp>
        <p:nvSpPr>
          <p:cNvPr id="18" name="Oval 17"/>
          <p:cNvSpPr/>
          <p:nvPr/>
        </p:nvSpPr>
        <p:spPr>
          <a:xfrm>
            <a:off x="502920" y="5532120"/>
            <a:ext cx="502920" cy="502920"/>
          </a:xfrm>
          <a:prstGeom prst="ellipse">
            <a:avLst/>
          </a:prstGeom>
          <a:solidFill>
            <a:srgbClr val="1F5FA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54864" bIns="54864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Segoe UI"/>
              </a:rPr>
              <a:t>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188720" y="5486400"/>
            <a:ext cx="10515600" cy="7315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54864" bIns="54864"/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8A1038"/>
                </a:solidFill>
                <a:latin typeface="Segoe UI"/>
              </a:rPr>
              <a:t>Mutação</a:t>
            </a:r>
          </a:p>
          <a:p>
            <a:pPr algn="l">
              <a:spcAft>
                <a:spcPts val="0"/>
              </a:spcAft>
            </a:pPr>
            <a:r>
              <a:rPr sz="1100" b="0">
                <a:solidFill>
                  <a:srgbClr val="0B1F3A"/>
                </a:solidFill>
                <a:latin typeface="Segoe UI"/>
              </a:rPr>
              <a:t>Executar mutação (~5 min) → 196/204 mortos; Execução e métricas mostra a evolução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