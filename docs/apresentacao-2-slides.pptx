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7A0C2E"/>
                </a:solidFill>
                <a:latin typeface="Segoe UI"/>
              </a:rPr>
              <a:t>1. Processo de desenvolvimento do teste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55B66"/>
                </a:solidFill>
                <a:latin typeface="Segoe UI"/>
              </a:rPr>
              <a:t>Hotel Management System (Flask/SQLite, 354 SLOC) · commit 71b396b · recorte: reservar, cancelar e consultar disponibilidade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7A0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2743200" cy="6858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1  Funcional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pytest · só a especificação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03120"/>
            <a:ext cx="2743200" cy="3063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22 condições → </a:t>
            </a:r>
            <a:r>
              <a:rPr sz="1150" b="1">
                <a:solidFill>
                  <a:srgbClr val="0F2A4A"/>
                </a:solidFill>
                <a:latin typeface="Segoe UI"/>
              </a:rPr>
              <a:t>48 classes</a:t>
            </a:r>
            <a:r>
              <a:rPr sz="1150" b="0">
                <a:solidFill>
                  <a:srgbClr val="0F2A4A"/>
                </a:solidFill>
                <a:latin typeface="Segoe UI"/>
              </a:rPr>
              <a:t> (31 válidas, 17 inválidas)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Valor limite: abaixo / no limite / acima (datas, noites, hóspedes, capacidade, adjacência)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</a:t>
            </a:r>
            <a:r>
              <a:rPr sz="1150" b="1">
                <a:solidFill>
                  <a:srgbClr val="0F2A4A"/>
                </a:solidFill>
                <a:latin typeface="Segoe UI"/>
              </a:rPr>
              <a:t>47 casos</a:t>
            </a:r>
            <a:r>
              <a:rPr sz="1150" b="0">
                <a:solidFill>
                  <a:srgbClr val="0F2A4A"/>
                </a:solidFill>
                <a:latin typeface="Segoe UI"/>
              </a:rPr>
              <a:t>; 1 classe inválida por caso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Original: 21 passam, </a:t>
            </a:r>
            <a:r>
              <a:rPr sz="1150" b="1">
                <a:solidFill>
                  <a:srgbClr val="0F2A4A"/>
                </a:solidFill>
                <a:latin typeface="Segoe UI"/>
              </a:rPr>
              <a:t>26 falham → 16 defeitos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64408" y="1417320"/>
            <a:ext cx="2743200" cy="6858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2  Estrutural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coverage.py --branch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64408" y="2103120"/>
            <a:ext cx="2743200" cy="3063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Meta: </a:t>
            </a:r>
            <a:r>
              <a:rPr sz="1150" b="1">
                <a:solidFill>
                  <a:srgbClr val="0F2A4A"/>
                </a:solidFill>
                <a:latin typeface="Segoe UI"/>
              </a:rPr>
              <a:t>100% comandos e desvios viáveis</a:t>
            </a:r>
            <a:r>
              <a:rPr sz="1150" b="0">
                <a:solidFill>
                  <a:srgbClr val="0F2A4A"/>
                </a:solidFill>
                <a:latin typeface="Segoe UI"/>
              </a:rPr>
              <a:t> nas 5 funções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Lacunas da etapa 1 → +7 casos (sessão encerrada, GET, outros quartos)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Leitura do código revela </a:t>
            </a:r>
            <a:r>
              <a:rPr sz="1150" b="1">
                <a:solidFill>
                  <a:srgbClr val="0F2A4A"/>
                </a:solidFill>
                <a:latin typeface="Segoe UI"/>
              </a:rPr>
              <a:t>+3 defeitos</a:t>
            </a:r>
            <a:r>
              <a:rPr sz="1150" b="0">
                <a:solidFill>
                  <a:srgbClr val="0F2A4A"/>
                </a:solidFill>
                <a:latin typeface="Segoe UI"/>
              </a:rPr>
              <a:t> (estado global, remove no laço, produto cartesiano)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</a:t>
            </a:r>
            <a:r>
              <a:rPr sz="1150" b="1">
                <a:solidFill>
                  <a:srgbClr val="0F2A4A"/>
                </a:solidFill>
                <a:latin typeface="Segoe UI"/>
              </a:rPr>
              <a:t>54 casos</a:t>
            </a:r>
            <a:r>
              <a:rPr sz="1150" b="0">
                <a:solidFill>
                  <a:srgbClr val="0F2A4A"/>
                </a:solidFill>
                <a:latin typeface="Segoe UI"/>
              </a:rPr>
              <a:t>: 100% comandos, 98,1% desvios (1 inviável)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17336" y="1417320"/>
            <a:ext cx="2743200" cy="685800"/>
          </a:xfrm>
          <a:prstGeom prst="rect">
            <a:avLst/>
          </a:prstGeom>
          <a:solidFill>
            <a:srgbClr val="7A0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Correção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fork no GitHub · 6 commits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7336" y="2103120"/>
            <a:ext cx="2743200" cy="3063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19 defeitos corrigidos, 1 commit por grupo, cada um confirmado pelo teste que o revelou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Mesmo teste: xfail estrito no original, verde no corrigido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</a:t>
            </a:r>
            <a:r>
              <a:rPr sz="1150" b="1">
                <a:solidFill>
                  <a:srgbClr val="0F2A4A"/>
                </a:solidFill>
                <a:latin typeface="Segoe UI"/>
              </a:rPr>
              <a:t>54/54 passam</a:t>
            </a:r>
            <a:r>
              <a:rPr sz="1150" b="0">
                <a:solidFill>
                  <a:srgbClr val="0F2A4A"/>
                </a:solidFill>
                <a:latin typeface="Segoe UI"/>
              </a:rPr>
              <a:t>, sem skip; 100% comandos e desvios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0264" y="1417320"/>
            <a:ext cx="2743200" cy="6858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3  Mutação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Cosmic Ray 8.4.3 · sem amostragem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0264" y="2103120"/>
            <a:ext cx="2743200" cy="3063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</a:t>
            </a:r>
            <a:r>
              <a:rPr sz="1150" b="1">
                <a:solidFill>
                  <a:srgbClr val="0F2A4A"/>
                </a:solidFill>
                <a:latin typeface="Segoe UI"/>
              </a:rPr>
              <a:t>204 mutantes</a:t>
            </a:r>
            <a:r>
              <a:rPr sz="1150" b="0">
                <a:solidFill>
                  <a:srgbClr val="0F2A4A"/>
                </a:solidFill>
                <a:latin typeface="Segoe UI"/>
              </a:rPr>
              <a:t> (todos os operadores, funções do recorte)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Inicial: 191 mortos → </a:t>
            </a:r>
            <a:r>
              <a:rPr sz="1150" b="1">
                <a:solidFill>
                  <a:srgbClr val="0F2A4A"/>
                </a:solidFill>
                <a:latin typeface="Segoe UI"/>
              </a:rPr>
              <a:t>93,6%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13 sobreviventes: 5 matáveis → +5 casos; 8 equivalentes justificados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Final: 196 mortos → </a:t>
            </a:r>
            <a:r>
              <a:rPr sz="1150" b="1">
                <a:solidFill>
                  <a:srgbClr val="0F2A4A"/>
                </a:solidFill>
                <a:latin typeface="Segoe UI"/>
              </a:rPr>
              <a:t>96,1%</a:t>
            </a:r>
            <a:r>
              <a:rPr sz="1150" b="0">
                <a:solidFill>
                  <a:srgbClr val="0F2A4A"/>
                </a:solidFill>
                <a:latin typeface="Segoe UI"/>
              </a:rPr>
              <a:t> (100% dos não equivalentes)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349240"/>
            <a:ext cx="1133856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2A4A"/>
                </a:solidFill>
                <a:latin typeface="Segoe UI"/>
              </a:rPr>
              <a:t>Rastreabilidade:</a:t>
            </a:r>
            <a:r>
              <a:rPr sz="1200" b="0">
                <a:solidFill>
                  <a:srgbClr val="0F2A4A"/>
                </a:solidFill>
                <a:latin typeface="Segoe UI"/>
              </a:rPr>
              <a:t> REQ → CE (@pytest.mark.ce) → CT (nome do teste) → DEF (@pytest.mark.defeito) → commit de correção. Um script verifica que toda classe tem caso funcional.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F2A4A"/>
                </a:solidFill>
                <a:latin typeface="Segoe UI"/>
              </a:rPr>
              <a:t>Reprodutível:</a:t>
            </a:r>
            <a:r>
              <a:rPr sz="1200" b="0">
                <a:solidFill>
                  <a:srgbClr val="0F2A4A"/>
                </a:solidFill>
                <a:latin typeface="Segoe UI"/>
              </a:rPr>
              <a:t> SUT_VERSAO=original|corrigida escolhe o código; etapas.ps1 roda tudo e grava pytest.txt, junit.xml, coverage JSON/HTML e sessões Cosmic Ray em evidencias/.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7A0C2E"/>
                </a:solidFill>
                <a:latin typeface="Segoe UI"/>
              </a:rPr>
              <a:t>2. Resultados, dificuldades e lições aprendidas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55B66"/>
                </a:solidFill>
                <a:latin typeface="Segoe UI"/>
              </a:rPr>
              <a:t>19 defeitos encontrados e corrigidos · suíte final: 59 casos, 100% de desvios, 96,1% de escore de mutação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7A0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6675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960120"/>
                <a:gridCol w="731520"/>
                <a:gridCol w="1143000"/>
                <a:gridCol w="1143000"/>
                <a:gridCol w="1280160"/>
              </a:tblGrid>
              <a:tr h="34747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Etapa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Código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Casos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Comandos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Desvios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Mutação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1. Funcional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original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47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90,3%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83,3%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2. Estrutural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original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100,0%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98,1%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3. Correção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corrigida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54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100,0%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100,0%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93,6%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4. Mutação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corrigida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100,0%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100,0%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4A"/>
                          </a:solidFill>
                          <a:latin typeface="Segoe UI"/>
                        </a:rPr>
                        <a:t>96,1%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3246120"/>
            <a:ext cx="6675120" cy="3291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A0C2E"/>
                </a:solidFill>
                <a:latin typeface="Segoe UI"/>
              </a:rPr>
              <a:t>Defeitos mais graves (todos com teste automatizado)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</a:t>
            </a:r>
            <a:r>
              <a:rPr sz="1150" b="1">
                <a:solidFill>
                  <a:srgbClr val="0F2A4A"/>
                </a:solidFill>
                <a:latin typeface="Segoe UI"/>
              </a:rPr>
              <a:t>DEF-01</a:t>
            </a:r>
            <a:r>
              <a:rPr sz="1150" b="0">
                <a:solidFill>
                  <a:srgbClr val="0F2A4A"/>
                </a:solidFill>
                <a:latin typeface="Segoe UI"/>
              </a:rPr>
              <a:t> predicado de conflito é uma </a:t>
            </a:r>
            <a:r>
              <a:rPr sz="1150" b="1">
                <a:solidFill>
                  <a:srgbClr val="0F2A4A"/>
                </a:solidFill>
                <a:latin typeface="Segoe UI"/>
              </a:rPr>
              <a:t>tautologia</a:t>
            </a:r>
            <a:r>
              <a:rPr sz="1150" b="0">
                <a:solidFill>
                  <a:srgbClr val="0F2A4A"/>
                </a:solidFill>
                <a:latin typeface="Segoe UI"/>
              </a:rPr>
              <a:t>: depois da 1ª reserva, o quarto nunca mais fica livre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</a:t>
            </a:r>
            <a:r>
              <a:rPr sz="1150" b="1">
                <a:solidFill>
                  <a:srgbClr val="0F2A4A"/>
                </a:solidFill>
                <a:latin typeface="Segoe UI"/>
              </a:rPr>
              <a:t>DEF-08/10</a:t>
            </a:r>
            <a:r>
              <a:rPr sz="1150" b="0">
                <a:solidFill>
                  <a:srgbClr val="0F2A4A"/>
                </a:solidFill>
                <a:latin typeface="Segoe UI"/>
              </a:rPr>
              <a:t> qualquer usuário cancela reserva alheia; </a:t>
            </a:r>
            <a:r>
              <a:rPr sz="1150" b="1">
                <a:solidFill>
                  <a:srgbClr val="0F2A4A"/>
                </a:solidFill>
                <a:latin typeface="Segoe UI"/>
              </a:rPr>
              <a:t>GET</a:t>
            </a:r>
            <a:r>
              <a:rPr sz="1150" b="0">
                <a:solidFill>
                  <a:srgbClr val="0F2A4A"/>
                </a:solidFill>
                <a:latin typeface="Segoe UI"/>
              </a:rPr>
              <a:t> apaga dados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</a:t>
            </a:r>
            <a:r>
              <a:rPr sz="1150" b="1">
                <a:solidFill>
                  <a:srgbClr val="0F2A4A"/>
                </a:solidFill>
                <a:latin typeface="Segoe UI"/>
              </a:rPr>
              <a:t>DEF-15</a:t>
            </a:r>
            <a:r>
              <a:rPr sz="1150" b="0">
                <a:solidFill>
                  <a:srgbClr val="0F2A4A"/>
                </a:solidFill>
                <a:latin typeface="Segoe UI"/>
              </a:rPr>
              <a:t> produto cartesiano reservas × vínculos, </a:t>
            </a:r>
            <a:r>
              <a:rPr sz="1150" b="1">
                <a:solidFill>
                  <a:srgbClr val="0F2A4A"/>
                </a:solidFill>
                <a:latin typeface="Segoe UI"/>
              </a:rPr>
              <a:t>mascarado</a:t>
            </a:r>
            <a:r>
              <a:rPr sz="1150" b="0">
                <a:solidFill>
                  <a:srgbClr val="0F2A4A"/>
                </a:solidFill>
                <a:latin typeface="Segoe UI"/>
              </a:rPr>
              <a:t> pelo DEF-01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</a:t>
            </a:r>
            <a:r>
              <a:rPr sz="1150" b="1">
                <a:solidFill>
                  <a:srgbClr val="0F2A4A"/>
                </a:solidFill>
                <a:latin typeface="Segoe UI"/>
              </a:rPr>
              <a:t>DEF-16/17</a:t>
            </a:r>
            <a:r>
              <a:rPr sz="1150" b="0">
                <a:solidFill>
                  <a:srgbClr val="0F2A4A"/>
                </a:solidFill>
                <a:latin typeface="Segoe UI"/>
              </a:rPr>
              <a:t> filtro em variável global vaza entre sessões; remove() no laço pula quartos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Outros: entrada hoje recusada, 0 hóspedes aceito, quarto repetido/inexistente, KeyError/500 sem sessão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371600"/>
            <a:ext cx="4480560" cy="4434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A0C2E"/>
                </a:solidFill>
                <a:latin typeface="Segoe UI"/>
              </a:rPr>
              <a:t>Lições aprendidas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</a:t>
            </a:r>
            <a:r>
              <a:rPr sz="1150" b="1">
                <a:solidFill>
                  <a:srgbClr val="0F2A4A"/>
                </a:solidFill>
                <a:latin typeface="Segoe UI"/>
              </a:rPr>
              <a:t>Funcional</a:t>
            </a:r>
            <a:r>
              <a:rPr sz="1150" b="0">
                <a:solidFill>
                  <a:srgbClr val="0F2A4A"/>
                </a:solidFill>
                <a:latin typeface="Segoe UI"/>
              </a:rPr>
              <a:t> achou 16 de 19 defeitos: limites (entrada hoje, estadias adjacentes) valem mais que valores típicos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</a:t>
            </a:r>
            <a:r>
              <a:rPr sz="1150" b="1">
                <a:solidFill>
                  <a:srgbClr val="0F2A4A"/>
                </a:solidFill>
                <a:latin typeface="Segoe UI"/>
              </a:rPr>
              <a:t>Cobertura ≠ correção:</a:t>
            </a:r>
            <a:r>
              <a:rPr sz="1150" b="0">
                <a:solidFill>
                  <a:srgbClr val="0F2A4A"/>
                </a:solidFill>
                <a:latin typeface="Segoe UI"/>
              </a:rPr>
              <a:t> 100% dos comandos no original com 29 testes falhando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</a:t>
            </a:r>
            <a:r>
              <a:rPr sz="1150" b="1">
                <a:solidFill>
                  <a:srgbClr val="0F2A4A"/>
                </a:solidFill>
                <a:latin typeface="Segoe UI"/>
              </a:rPr>
              <a:t>Estrutural</a:t>
            </a:r>
            <a:r>
              <a:rPr sz="1150" b="0">
                <a:solidFill>
                  <a:srgbClr val="0F2A4A"/>
                </a:solidFill>
                <a:latin typeface="Segoe UI"/>
              </a:rPr>
              <a:t> achou o que a especificação não sugere e revelou um defeito </a:t>
            </a:r>
            <a:r>
              <a:rPr sz="1150" b="1">
                <a:solidFill>
                  <a:srgbClr val="0F2A4A"/>
                </a:solidFill>
                <a:latin typeface="Segoe UI"/>
              </a:rPr>
              <a:t>mascarado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</a:t>
            </a:r>
            <a:r>
              <a:rPr sz="1150" b="1">
                <a:solidFill>
                  <a:srgbClr val="0F2A4A"/>
                </a:solidFill>
                <a:latin typeface="Segoe UI"/>
              </a:rPr>
              <a:t>Mutação testa os testes:</a:t>
            </a:r>
            <a:r>
              <a:rPr sz="1150" b="0">
                <a:solidFill>
                  <a:srgbClr val="0F2A4A"/>
                </a:solidFill>
                <a:latin typeface="Segoe UI"/>
              </a:rPr>
              <a:t> com 100% de desvios, 5 mutantes vivos (IDs &gt; 256, oráculo de um sentido só)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</a:t>
            </a:r>
            <a:r>
              <a:rPr sz="1150" b="1">
                <a:solidFill>
                  <a:srgbClr val="0F2A4A"/>
                </a:solidFill>
                <a:latin typeface="Segoe UI"/>
              </a:rPr>
              <a:t>Corrigir antes de mutar:</a:t>
            </a:r>
            <a:r>
              <a:rPr sz="1150" b="0">
                <a:solidFill>
                  <a:srgbClr val="0F2A4A"/>
                </a:solidFill>
                <a:latin typeface="Segoe UI"/>
              </a:rPr>
              <a:t> mutar o original invalidaria o escore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7A0C2E"/>
                </a:solidFill>
                <a:latin typeface="Segoe UI"/>
              </a:rPr>
              <a:t>Dificuldades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Dependências de 2019 → 2 ambientes (Py 3.9 / 3.12) e compat.py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Cosmic Ray no Windows (caminho do interpretador)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0F2A4A"/>
                </a:solidFill>
                <a:latin typeface="Segoe UI"/>
              </a:rPr>
              <a:t>• Oráculos não escritos → convenções declaradas no relatório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