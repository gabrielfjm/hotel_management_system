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Comandos</c:v>
                </c:pt>
              </c:strCache>
            </c:strRef>
          </c:tx>
          <c:spPr>
            <a:solidFill>
              <a:srgbClr val="1F5FA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(19)</c:v>
                </c:pt>
                <c:pt idx="2">
                  <c:v>Correção (19)</c:v>
                </c:pt>
                <c:pt idx="3">
                  <c:v>Mutação (25)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0.9520000000000001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Desvios</c:v>
                </c:pt>
              </c:strCache>
            </c:strRef>
          </c:tx>
          <c:spPr>
            <a:solidFill>
              <a:srgbClr val="8A103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(19)</c:v>
                </c:pt>
                <c:pt idx="2">
                  <c:v>Correção (19)</c:v>
                </c:pt>
                <c:pt idx="3">
                  <c:v>Mutação (25)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0.853</c:v>
                </c:pt>
                <c:pt idx="1">
                  <c:v>0.971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Escore de mutação</c:v>
                </c:pt>
              </c:strCache>
            </c:strRef>
          </c:tx>
          <c:spPr>
            <a:solidFill>
              <a:srgbClr val="1E8E5A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(19)</c:v>
                </c:pt>
                <c:pt idx="2">
                  <c:v>Correção (19)</c:v>
                </c:pt>
                <c:pt idx="3">
                  <c:v>Mutação (25)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0.9009999999999999</c:v>
                </c:pt>
                <c:pt idx="3">
                  <c:v>0.95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(30 s): testar um sistema web de terceiros, o Hotel Management System em Flask, em três requisitos da reserva de quartos: reservar (quartos, hóspedes, disponibilidade, custo), data de entrada e data de saída; os demais RFs foram documentados.</a:t>
            </a:r>
          </a:p>
          <a:p/>
          <a:p>
            <a:r>
              <a:t>Funcional (40 s): só com o README e o formulário de reserva, particionei 10 condições em 22 classes: um caso para cada classe inválida, com os limites embutidos (entrada hoje, uma noite, capacidade, estadias adjacentes). Foram 15 casos; no código original 9 falharam e revelaram 9 defeitos.</a:t>
            </a:r>
          </a:p>
          <a:p/>
          <a:p>
            <a:r>
              <a:t>Estrutural (40 s): medi com coverage.py --branch e defini a meta de 100% dos desvios viáveis. Os ramos que faltavam levaram a 4 casos novos e, lendo o laço triplo, a um defeito que a especificação não sugeria: um produto cartesiano entre reservas e vínculos, mascarado pela tautologia.</a:t>
            </a:r>
          </a:p>
          <a:p/>
          <a:p>
            <a:r>
              <a:t>Correção (30 s): antes de mutar, corrigi os defeitos no fork, um commit por grupo. O mesmo teste é xfail estrito no original e passa no corrigido: isso comprova cada correção.</a:t>
            </a:r>
          </a:p>
          <a:p/>
          <a:p>
            <a:r>
              <a:t>Mutação (40 s): Cosmic Ray sobre todos os 141 mutantes das funções dos três requisitos. Dos 14 vivos, 7 eram matáveis e ganharam casos; os 7 restantes são equivalentes e estão justificados no relatório.</a:t>
            </a:r>
          </a:p>
          <a:p/>
          <a:p>
            <a:r>
              <a:t>Ferramenta (20 s): organizei tudo no V&amp;V TestLab, que importa JUnit, cobertura e mutação pela ponte local e mantém a rastreabilidade até o defeito.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(30 s): a suíte final tem 25 casos, 100% de comandos e desvios nas funções do recorte e 95,0% de escore de mutação. Os 7 mutantes vivos são equivalentes, então 100% dos não equivalentes morreram. No gráfico, a cobertura sobe na etapa estrutural e o escore sobe na mutação.</a:t>
            </a:r>
          </a:p>
          <a:p/>
          <a:p>
            <a:r>
              <a:t>Defeito principal (40 s): a condição de conflito de datas é uma tautologia, sempre verdadeira. Depois da primeira reserva, o quarto nunca mais pode ser reservado. As imagens mostram a mesma reserva recusada no original e aceita no corrigido. Outro exemplo: a entrada no dia de hoje era recusada, porque a data era comparada com a hora atual.</a:t>
            </a:r>
          </a:p>
          <a:p/>
          <a:p>
            <a:r>
              <a:t>Defeito mascarado (20 s): o laço comparava cada quarto com reservas de outros quartos; isso só apareceu depois de corrigir a tautologia.</a:t>
            </a:r>
          </a:p>
          <a:p/>
          <a:p>
            <a:r>
              <a:t>Dificuldades (20 s): o projeto é de 2019 e não roda no Python atual; usei dois ambientes. O Cosmic Ray no Windows exigiu caminho absoluto do interpretador. Onde o README não definia o comportamento, declarei convenções.</a:t>
            </a:r>
          </a:p>
          <a:p/>
          <a:p>
            <a:r>
              <a:t>Lições (40 s): limites acham defeitos que valores típicos não acham; cobertura mede o que executou, não o que foi verificado (o original tinha 100% dos comandos com 10 testes falhando); a mutação avaliou a própria suíte e mostrou fragilidades mesmo com 100% dos desvios; e é preciso corrigir antes de mutar.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Processo de desenvolvimento do teste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 Management System (Flask + SQLite) · REQ-01 Reservar quartos · REQ-02 Data de entrada · REQ-03 Data de saída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280160"/>
            <a:ext cx="1847088" cy="676656"/>
          </a:xfrm>
          <a:prstGeom prst="homePlat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Funcional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pytest · só a especificação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22 classes</a:t>
            </a:r>
            <a:r>
              <a:rPr sz="1050" b="0">
                <a:solidFill>
                  <a:srgbClr val="0B1F3A"/>
                </a:solidFill>
                <a:latin typeface="Segoe UI"/>
              </a:rPr>
              <a:t> (11 válidas, 11 inválidas)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 caso por classe inválida, limites embutidos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15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no código original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 falham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9 defeitos</a:t>
            </a:r>
          </a:p>
        </p:txBody>
      </p:sp>
      <p:sp>
        <p:nvSpPr>
          <p:cNvPr id="10" name="Chevron 9"/>
          <p:cNvSpPr/>
          <p:nvPr/>
        </p:nvSpPr>
        <p:spPr>
          <a:xfrm>
            <a:off x="2203704" y="1280160"/>
            <a:ext cx="1847088" cy="676656"/>
          </a:xfrm>
          <a:prstGeom prst="chevron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Estrutural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coverage.py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31136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Meta: </a:t>
            </a: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 viáveis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+4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guiados pelas lacunas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+1 defeito</a:t>
            </a:r>
            <a:r>
              <a:rPr sz="1050" b="0">
                <a:solidFill>
                  <a:srgbClr val="0B1F3A"/>
                </a:solidFill>
                <a:latin typeface="Segoe UI"/>
              </a:rPr>
              <a:t> só visível no código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97,1%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dos desvios (1 inviável)</a:t>
            </a:r>
          </a:p>
        </p:txBody>
      </p:sp>
      <p:sp>
        <p:nvSpPr>
          <p:cNvPr id="12" name="Chevron 11"/>
          <p:cNvSpPr/>
          <p:nvPr/>
        </p:nvSpPr>
        <p:spPr>
          <a:xfrm>
            <a:off x="3995928" y="1280160"/>
            <a:ext cx="1847088" cy="676656"/>
          </a:xfrm>
          <a:prstGeom prst="chevron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Correção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fork no GitHub · 6 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corrigidos (+9 dos secundários)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Cada commit confirmado pelo teste que revelou o defeito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19/19</a:t>
            </a:r>
            <a:r>
              <a:rPr sz="1050" b="0">
                <a:solidFill>
                  <a:srgbClr val="0B1F3A"/>
                </a:solidFill>
                <a:latin typeface="Segoe UI"/>
              </a:rPr>
              <a:t> passam, sem skip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</a:t>
            </a:r>
          </a:p>
        </p:txBody>
      </p:sp>
      <p:sp>
        <p:nvSpPr>
          <p:cNvPr id="14" name="Chevron 13"/>
          <p:cNvSpPr/>
          <p:nvPr/>
        </p:nvSpPr>
        <p:spPr>
          <a:xfrm>
            <a:off x="5788152" y="1280160"/>
            <a:ext cx="1847088" cy="676656"/>
          </a:xfrm>
          <a:prstGeom prst="chevr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Cosmic Ray · 141 mutantes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15584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Inicial: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90,1%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(127/141)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14 vivos: </a:t>
            </a:r>
            <a:r>
              <a:rPr sz="1050" b="1">
                <a:solidFill>
                  <a:srgbClr val="0B1F3A"/>
                </a:solidFill>
                <a:latin typeface="Segoe UI"/>
              </a:rPr>
              <a:t>7 matáveis</a:t>
            </a:r>
            <a:r>
              <a:rPr sz="1050" b="0">
                <a:solidFill>
                  <a:srgbClr val="0B1F3A"/>
                </a:solidFill>
                <a:latin typeface="Segoe UI"/>
              </a:rPr>
              <a:t>, 7 equivalentes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+6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para os matáveis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Final: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95,0%</a:t>
            </a:r>
            <a:r>
              <a:rPr sz="1050" b="0">
                <a:solidFill>
                  <a:srgbClr val="0B1F3A"/>
                </a:solidFill>
                <a:latin typeface="Segoe UI"/>
              </a:rPr>
              <a:t> · 100% dos não equivalentes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710488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8A1038"/>
                </a:solidFill>
                <a:latin typeface="Segoe UI"/>
              </a:rPr>
              <a:t>Rastreabilidade de ponta a ponta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REQ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CE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(@pytest.mark.ce)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CT</a:t>
            </a:r>
            <a:r>
              <a:rPr sz="1050" b="0">
                <a:solidFill>
                  <a:srgbClr val="0B1F3A"/>
                </a:solidFill>
                <a:latin typeface="Segoe UI"/>
              </a:rPr>
              <a:t> (nome do teste)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execução</a:t>
            </a:r>
            <a:r>
              <a:rPr sz="1050" b="0">
                <a:solidFill>
                  <a:srgbClr val="0B1F3A"/>
                </a:solidFill>
                <a:latin typeface="Segoe UI"/>
              </a:rPr>
              <a:t> (JUnit)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DEF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(@pytest.mark.defeito)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commit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correção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32120"/>
            <a:ext cx="7104888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Mesmo teste nos dois códigos: </a:t>
            </a:r>
            <a:r>
              <a:rPr sz="1050" b="1">
                <a:solidFill>
                  <a:srgbClr val="5B6472"/>
                </a:solidFill>
                <a:latin typeface="Segoe UI"/>
              </a:rPr>
              <a:t>xfail estrito no original</a:t>
            </a:r>
            <a:r>
              <a:rPr sz="1050" b="0">
                <a:solidFill>
                  <a:srgbClr val="5B6472"/>
                </a:solidFill>
                <a:latin typeface="Segoe UI"/>
              </a:rPr>
              <a:t> (o defeito precisa aparecer) e </a:t>
            </a:r>
            <a:r>
              <a:rPr sz="1050" b="1">
                <a:solidFill>
                  <a:srgbClr val="5B6472"/>
                </a:solidFill>
                <a:latin typeface="Segoe UI"/>
              </a:rPr>
              <a:t>verde no corrigido</a:t>
            </a:r>
            <a:r>
              <a:rPr sz="1050" b="0">
                <a:solidFill>
                  <a:srgbClr val="5B6472"/>
                </a:solidFill>
                <a:latin typeface="Segoe UI"/>
              </a:rPr>
              <a:t>. etapas.ps1 / etapas.sh reproduzem tudo e gravam as evidências de cada etapa.</a:t>
            </a:r>
          </a:p>
        </p:txBody>
      </p:sp>
      <p:pic>
        <p:nvPicPr>
          <p:cNvPr id="18" name="Picture 17" descr="original-03-qu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4023360" cy="176022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7772400" y="3054096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SUT em execução: lista de quartos após o login</a:t>
            </a:r>
          </a:p>
        </p:txBody>
      </p:sp>
      <p:pic>
        <p:nvPicPr>
          <p:cNvPr id="20" name="Picture 19" descr="04-rastrea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456432"/>
            <a:ext cx="4023360" cy="240284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21" name="Rectangle 20"/>
          <p:cNvSpPr/>
          <p:nvPr/>
        </p:nvSpPr>
        <p:spPr>
          <a:xfrm>
            <a:off x="7772400" y="5877559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V&amp;V TestLab: requisito → classe → caso → execução → defeito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Resultados, dificuldades e lições aprendidas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25 casos · 10 defeitos nos 3 requisitos, todos corrigidos · 100% dos desvios · 95,0% de escore de mutação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F5FA8"/>
                </a:solidFill>
                <a:latin typeface="Segoe UI"/>
              </a:rPr>
              <a:t>25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casos de teste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8A1038"/>
                </a:solidFill>
                <a:latin typeface="Segoe UI"/>
              </a:rPr>
              <a:t>10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 corrigidos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E8E5A"/>
                </a:solidFill>
                <a:latin typeface="Segoe U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dos desvios cobertos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D97A1E"/>
                </a:solidFill>
                <a:latin typeface="Segoe UI"/>
              </a:rPr>
              <a:t>95,0%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escore de mutação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2176272"/>
          <a:ext cx="7223760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7863840" y="1170432"/>
            <a:ext cx="39319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8A1038"/>
                </a:solidFill>
                <a:latin typeface="Segoe UI"/>
              </a:rPr>
              <a:t>DEF-01 · reservar o 101 fora do período ocupado</a:t>
            </a:r>
          </a:p>
        </p:txBody>
      </p:sp>
      <p:pic>
        <p:nvPicPr>
          <p:cNvPr id="14" name="Picture 13" descr="original-07-reserva-resultado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863840" y="1481328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10287000" y="2048827"/>
            <a:ext cx="1463040" cy="23774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ORIGINAL · recusada</a:t>
            </a:r>
          </a:p>
        </p:txBody>
      </p:sp>
      <p:pic>
        <p:nvPicPr>
          <p:cNvPr id="16" name="Picture 15" descr="original-03-quartos.png"/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7863840" y="2414587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10287000" y="2982086"/>
            <a:ext cx="1463040" cy="23774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CORRIGIDO · aceita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384422"/>
            <a:ext cx="3931920" cy="1187577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1038"/>
                </a:solidFill>
                <a:latin typeface="Segoe UI"/>
              </a:rPr>
              <a:t>Defeitos mais graves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Tautologia</a:t>
            </a:r>
            <a:r>
              <a:rPr sz="950" b="0">
                <a:solidFill>
                  <a:srgbClr val="0B1F3A"/>
                </a:solidFill>
                <a:latin typeface="Segoe UI"/>
              </a:rPr>
              <a:t> no conflito de datas bloqueia o quarto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Entrada hoje</a:t>
            </a:r>
            <a:r>
              <a:rPr sz="950" b="0">
                <a:solidFill>
                  <a:srgbClr val="0B1F3A"/>
                </a:solidFill>
                <a:latin typeface="Segoe UI"/>
              </a:rPr>
              <a:t> recusada (data comparada com a hora)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Quarto inexistente ou repetido</a:t>
            </a:r>
            <a:r>
              <a:rPr sz="950" b="0">
                <a:solidFill>
                  <a:srgbClr val="0B1F3A"/>
                </a:solidFill>
                <a:latin typeface="Segoe UI"/>
              </a:rPr>
              <a:t> aceito na reserva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Defeito </a:t>
            </a:r>
            <a:r>
              <a:rPr sz="950" b="1">
                <a:solidFill>
                  <a:srgbClr val="0B1F3A"/>
                </a:solidFill>
                <a:latin typeface="Segoe UI"/>
              </a:rPr>
              <a:t>mascarado</a:t>
            </a:r>
            <a:r>
              <a:rPr sz="950" b="0">
                <a:solidFill>
                  <a:srgbClr val="0B1F3A"/>
                </a:solidFill>
                <a:latin typeface="Segoe UI"/>
              </a:rPr>
              <a:t> (produto cartesiano)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09160"/>
            <a:ext cx="3657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Dificuldades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Dependências de 2019: Python 3.9 e Python 3.12 separados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Cosmic Ray no Windows (caminho do interpretador)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Oráculos não escritos → convenções declaradas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709160"/>
            <a:ext cx="7589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Lições aprendidas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Limites valem mais que valores típicos</a:t>
            </a:r>
            <a:r>
              <a:rPr sz="1000" b="0">
                <a:solidFill>
                  <a:srgbClr val="0B1F3A"/>
                </a:solidFill>
                <a:latin typeface="Segoe UI"/>
              </a:rPr>
              <a:t>: 15 casos funcionais acharam 9 dos 10 defeitos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Cobertura ≠ correção</a:t>
            </a:r>
            <a:r>
              <a:rPr sz="1000" b="0">
                <a:solidFill>
                  <a:srgbClr val="0B1F3A"/>
                </a:solidFill>
                <a:latin typeface="Segoe UI"/>
              </a:rPr>
              <a:t>: 100% dos comandos no original com 10 testes falhando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Mutação testa os testes</a:t>
            </a:r>
            <a:r>
              <a:rPr sz="1000" b="0">
                <a:solidFill>
                  <a:srgbClr val="0B1F3A"/>
                </a:solidFill>
                <a:latin typeface="Segoe UI"/>
              </a:rPr>
              <a:t>: com 100% dos desvios ainda havia 7 mutantes não equivalentes vivos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Corrigir antes de mutar</a:t>
            </a:r>
            <a:r>
              <a:rPr sz="1000" b="0">
                <a:solidFill>
                  <a:srgbClr val="0B1F3A"/>
                </a:solidFill>
                <a:latin typeface="Segoe UI"/>
              </a:rPr>
              <a:t>: mutar código com defeitos invalida o escore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